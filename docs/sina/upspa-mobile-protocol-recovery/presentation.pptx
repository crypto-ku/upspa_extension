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42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Protocol Workflows, Distributed Consistency,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UpSPA mobile architecture research · Göktuğ Sina Bekçioğulları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7040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/>
          <a:lstStyle/>
          <a:p>
            <a:pPr algn="ctr">
              <a:defRPr b="1" sz="1700">
                <a:solidFill>
                  <a:srgbClr val="2563EB"/>
                </a:solidFill>
                <a:latin typeface="Aptos Display"/>
              </a:defRPr>
            </a:pPr>
            <a:r>
              <a:t>Main claim</a:t>
            </a:r>
          </a:p>
          <a:p>
            <a:pPr>
              <a:spcBef>
                <a:spcPts val="800"/>
              </a:spcBef>
              <a:defRPr sz="1800">
                <a:solidFill>
                  <a:srgbClr val="0E1F3A"/>
                </a:solidFill>
                <a:latin typeface="Aptos"/>
              </a:defRPr>
            </a:pPr>
            <a:r>
              <a:t>With an unmodified Login Server, LS + Storage Provider operations cannot be made fully atomic. The client should use durable pending operations, idempotent retries, threshold commits, and reconciliation.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65960"/>
            <a:ext cx="21031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Login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971800"/>
            <a:ext cx="10972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3611880"/>
            <a:ext cx="10972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2971800"/>
            <a:ext cx="10972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617720"/>
            <a:ext cx="3383280" cy="594360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Mobile client recovery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Research question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0136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21992"/>
            <a:ext cx="475488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How should UpSPA behave when the Login Server and Storage Providers succeed, fail, or time out independently?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Focus: setup/provisioning, authentication, registration, LS-specific secret update, and master-password update.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Failure cases include cancellation, process death, partial SP writes, LS timeout, and divergent cid/version values.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0136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Deliverable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221992"/>
            <a:ext cx="475488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Output is a protocol-level recommendation, not a production mobile app implementation.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Evidence artifact: executable/model-based failure simulator.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Decision split: client-only improvements vs. changes requiring new LS/SP APIs.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73152" cy="4297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System model and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Mobile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25880"/>
            <a:ext cx="2057400" cy="868680"/>
          </a:xfrm>
          <a:prstGeom prst="round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Unmodified</a:t>
            </a:r>
            <a:br/>
            <a:r>
              <a:t>Login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3886200"/>
            <a:ext cx="109728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SP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886200"/>
            <a:ext cx="109728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SP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886200"/>
            <a:ext cx="109728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SP 3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697480" y="1783080"/>
            <a:ext cx="1965960" cy="54864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97480" y="2514600"/>
            <a:ext cx="1554480" cy="155448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97480" y="2514600"/>
            <a:ext cx="3154680" cy="155448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514600"/>
            <a:ext cx="4800599" cy="155448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1417320"/>
            <a:ext cx="2971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9952" y="1618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039112"/>
            <a:ext cx="242316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Three Storage Providers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Two-of-three threshold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LS may succeed, fail, or timeout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Each SP may independently succeed, fail, or timeout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Client process may die between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417320"/>
            <a:ext cx="73152" cy="4023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Operation state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13258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PREPARED</a:t>
            </a:r>
            <a:br/>
            <a:r>
              <a:t>LOCALLY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2057400"/>
            <a:ext cx="13258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LS</a:t>
            </a:r>
            <a:br/>
            <a:r>
              <a:t>SUBMITTED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057400"/>
            <a:ext cx="13258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LS</a:t>
            </a:r>
            <a:br/>
            <a:r>
              <a:t>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057400"/>
            <a:ext cx="1325880" cy="7772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SP WRITE</a:t>
            </a:r>
            <a:br/>
            <a:r>
              <a:t>STARTED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057400"/>
            <a:ext cx="1325880" cy="7772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THRESHOLD</a:t>
            </a:r>
            <a:br/>
            <a:r>
              <a:t>REACHED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057400"/>
            <a:ext cx="1325880" cy="777240"/>
          </a:xfrm>
          <a:prstGeom prst="round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DONE /</a:t>
            </a:r>
            <a:br/>
            <a:r>
              <a:t>RECOVERING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2441448"/>
            <a:ext cx="320040" cy="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30752" y="2441448"/>
            <a:ext cx="320039" cy="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68112" y="2441448"/>
            <a:ext cx="320040" cy="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05472" y="2441448"/>
            <a:ext cx="320040" cy="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34272" y="2441448"/>
            <a:ext cx="320040" cy="0"/>
          </a:xfrm>
          <a:prstGeom prst="line">
            <a:avLst/>
          </a:prstGeom>
          <a:ln w="19050">
            <a:solidFill>
              <a:srgbClr val="61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8404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4164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Mobile recovery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62272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Durable pending-operation journal must be written before external side effects.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After process death, the client classifies the operation and resumes or asks for confirmation.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8404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4164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Important ambiguity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62272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Timeout after LS submission is ambiguous unless the LS exposes status or idempotency support.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Forward recovery is safer than promising rollback.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80"/>
            <a:ext cx="73152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Failure matrix: two-of-three SP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423160" cy="411480"/>
          </a:xfrm>
          <a:prstGeom prst="round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1600200"/>
            <a:ext cx="2743200" cy="411480"/>
          </a:xfrm>
          <a:prstGeom prst="round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Client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8464" y="1600200"/>
            <a:ext cx="5120640" cy="411480"/>
          </a:xfrm>
          <a:prstGeom prst="round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Recovery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0/3 SP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2103120"/>
            <a:ext cx="2743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C2626"/>
                </a:solidFill>
                <a:latin typeface="Aptos"/>
              </a:defRPr>
            </a:pPr>
            <a:r>
              <a:t>Not durable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2103120"/>
            <a:ext cx="5120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Keep pending; retry SP writes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1/3 SP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82112" y="2670048"/>
            <a:ext cx="2743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C2626"/>
                </a:solidFill>
                <a:latin typeface="Aptos"/>
              </a:defRPr>
            </a:pPr>
            <a:r>
              <a:t>Not durable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2670048"/>
            <a:ext cx="5120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Keep pending; retry SP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36976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2/3 SP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2112" y="3236976"/>
            <a:ext cx="2743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97706"/>
                </a:solidFill>
                <a:latin typeface="Aptos"/>
              </a:defRPr>
            </a:pPr>
            <a:r>
              <a:t>Committed but degraded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3236976"/>
            <a:ext cx="5120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Allow recovery; reconcile missing 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03904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3/3 SP success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2112" y="3803904"/>
            <a:ext cx="2743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6A34A"/>
                </a:solidFill>
                <a:latin typeface="Aptos"/>
              </a:defRPr>
            </a:pPr>
            <a:r>
              <a:t>Fully committed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3803904"/>
            <a:ext cx="5120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Clear pending operation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70831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LS timeout after submit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4370831"/>
            <a:ext cx="2743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97706"/>
                </a:solidFill>
                <a:latin typeface="Aptos"/>
              </a:defRPr>
            </a:pPr>
            <a:r>
              <a:t>Ambiguous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4370831"/>
            <a:ext cx="5120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Need LS status/idempotency or manual confirmation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37760"/>
            <a:ext cx="24231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Divergent cid/version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82112" y="4937760"/>
            <a:ext cx="2743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97706"/>
                </a:solidFill>
                <a:latin typeface="Aptos"/>
              </a:defRPr>
            </a:pPr>
            <a:r>
              <a:t>Committed but divergent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98464" y="4937760"/>
            <a:ext cx="51206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111827"/>
                </a:solidFill>
                <a:latin typeface="Aptos"/>
              </a:defRPr>
            </a:pPr>
            <a:r>
              <a:t>Compare versions; reconcile SP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Evidence artifact: executable simulator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0992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Reproducible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48463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`code-protocol-sim/simulator.py`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Reads `scenarios.json` and writes `results.json`.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Evaluates 12 scenarios covering SP thresholds, LS timeout, process death, master-password update, and divergent cid values.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No real credentials, secrets, or network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4480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/>
          <a:lstStyle/>
          <a:p>
            <a:pPr algn="ctr">
              <a:defRPr sz="1200">
                <a:solidFill>
                  <a:srgbClr val="FFFFFF"/>
                </a:solidFill>
                <a:latin typeface="Courier New"/>
              </a:defRPr>
            </a:pPr>
            <a:r>
              <a:t>$ python3 simulator.py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UpSPA protocol failure simulation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========================================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Scenarios evaluated: 12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Results written to: results.json</a:t>
            </a:r>
          </a:p>
          <a:p>
            <a:pPr>
              <a:defRPr sz="1200">
                <a:solidFill>
                  <a:srgbClr val="BFDBFE"/>
                </a:solidFill>
                <a:latin typeface="Courier New"/>
              </a:defRPr>
            </a:pPr>
            <a:r>
              <a:t>- 0/3 -&gt; not_durable</a:t>
            </a:r>
          </a:p>
          <a:p>
            <a:pPr>
              <a:defRPr sz="1200">
                <a:solidFill>
                  <a:srgbClr val="BFDBFE"/>
                </a:solidFill>
                <a:latin typeface="Courier New"/>
              </a:defRPr>
            </a:pPr>
            <a:r>
              <a:t>- 2/3 -&gt; committed_but_degraded</a:t>
            </a:r>
          </a:p>
          <a:p>
            <a:pPr>
              <a:defRPr sz="1200">
                <a:solidFill>
                  <a:srgbClr val="BFDBFE"/>
                </a:solidFill>
                <a:latin typeface="Courier New"/>
              </a:defRPr>
            </a:pPr>
            <a:r>
              <a:t>- timeout -&gt; ambiguous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Main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09928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Threshold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30175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0/3 and 1/3 SP success are not durable.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2/3 SP success is recoverable but degraded.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3/3 SP success is fully committed.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709928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Process death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30552"/>
            <a:ext cx="30175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Process death before LS submission is safe to cancel/restart.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Process death or timeout after LS submission is ambiguous.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Manual confirmation or LS status API is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4480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709928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Divergence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30552"/>
            <a:ext cx="30175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Partial master-password updates need version checks.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Successful SP responses are insufficient if cid/version values diverge.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Client must reconcile SP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3A"/>
                </a:solidFill>
                <a:latin typeface="Aptos Display"/>
              </a:defRPr>
            </a:pPr>
            <a:r>
              <a:t>Client-only vs. new API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5564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Client-only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76272"/>
            <a:ext cx="4663440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Durable pending-operation journal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Explicit operation states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Do not show final success before threshold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Retry SP writes with stable local operation context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Background reconciliation for missing SP writes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4297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5564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1F3A"/>
                </a:solidFill>
                <a:latin typeface="Aptos Display"/>
              </a:defRPr>
            </a:pPr>
            <a:r>
              <a:t>Requires LS/SP API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76272"/>
            <a:ext cx="4663440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LS status query for submitted operations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LS idempotency keys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SP idempotent writes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Versioned SP state / cid reconciliation endpoint</a:t>
            </a:r>
          </a:p>
          <a:p>
            <a:pPr>
              <a:spcAft>
                <a:spcPts val="7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Prepare/commit style protocol only if stronger atomicity is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Treat mobile protocol operations as recoverable workflows, not atomic transactions.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25880"/>
            <a:ext cx="12801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8191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Write a durable pending-operation record before external side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67712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9424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Use stable operation IDs for retry and idempotency.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35224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Treat 2/3 SP success as committed but degraded.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02736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84448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Reconcile missing or divergent SP state before declaring full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0248"/>
            <a:ext cx="41148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51960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Classify LS timeout after submission as ambiguous without a status/idempotency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37760"/>
            <a:ext cx="41148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19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Do not promise rollback with an unmodified Login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97880"/>
            <a:ext cx="10424160" cy="502920"/>
          </a:xfrm>
          <a:prstGeom prst="roundRect">
            <a:avLst/>
          </a:prstGeom>
          <a:solidFill>
            <a:srgbClr val="142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Next implementation step: design the mobile pending-operation journal and reconciliation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6E7C"/>
                </a:solidFill>
                <a:latin typeface="Aptos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